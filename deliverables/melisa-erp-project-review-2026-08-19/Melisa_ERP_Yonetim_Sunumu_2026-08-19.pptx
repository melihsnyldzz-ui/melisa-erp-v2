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ba197168774be3" /><Relationship Type="http://schemas.openxmlformats.org/officeDocument/2006/relationships/extended-properties" Target="/docProps/app.xml" Id="Rcce04bb497dc4a76" /><Relationship Type="http://schemas.openxmlformats.org/officeDocument/2006/relationships/officeDocument" Target="/ppt/presentation.xml" Id="Rb1dd714cfa4749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b64a0a00024cb8"/>
  </p:sldMasterIdLst>
  <p:notesMasterIdLst>
    <p:notesMasterId xmlns:r="http://schemas.openxmlformats.org/officeDocument/2006/relationships" r:id="Rb205b86e2068490a"/>
  </p:notesMasterIdLst>
  <p:sldIdLst>
    <p:sldId xmlns:r="http://schemas.openxmlformats.org/officeDocument/2006/relationships" id="256" r:id="Rd3132162573e41d9"/>
    <p:sldId xmlns:r="http://schemas.openxmlformats.org/officeDocument/2006/relationships" id="257" r:id="Ree437b9e15e1414b"/>
    <p:sldId xmlns:r="http://schemas.openxmlformats.org/officeDocument/2006/relationships" id="258" r:id="Rac7fc6e1b43c4080"/>
    <p:sldId xmlns:r="http://schemas.openxmlformats.org/officeDocument/2006/relationships" id="259" r:id="R97de61db05f64724"/>
    <p:sldId xmlns:r="http://schemas.openxmlformats.org/officeDocument/2006/relationships" id="260" r:id="R1ecbacee2418442c"/>
    <p:sldId xmlns:r="http://schemas.openxmlformats.org/officeDocument/2006/relationships" id="261" r:id="R7ff3e40a9cf14b3e"/>
    <p:sldId xmlns:r="http://schemas.openxmlformats.org/officeDocument/2006/relationships" id="262" r:id="Rfe7bdc91a2d5405a"/>
    <p:sldId xmlns:r="http://schemas.openxmlformats.org/officeDocument/2006/relationships" id="263" r:id="Rb52fed06262a45f4"/>
    <p:sldId xmlns:r="http://schemas.openxmlformats.org/officeDocument/2006/relationships" id="264" r:id="Rd7f5627a8df042ee"/>
    <p:sldId xmlns:r="http://schemas.openxmlformats.org/officeDocument/2006/relationships" id="265" r:id="R28925c908ad04cae"/>
    <p:sldId xmlns:r="http://schemas.openxmlformats.org/officeDocument/2006/relationships" id="266" r:id="Rd33fb6d36afd4c4a"/>
    <p:sldId xmlns:r="http://schemas.openxmlformats.org/officeDocument/2006/relationships" id="267" r:id="R35e78b16d5464938"/>
    <p:sldId xmlns:r="http://schemas.openxmlformats.org/officeDocument/2006/relationships" id="268" r:id="R6f633dfee7594a8b"/>
    <p:sldId xmlns:r="http://schemas.openxmlformats.org/officeDocument/2006/relationships" id="269" r:id="R1488a1432a0649fb"/>
    <p:sldId xmlns:r="http://schemas.openxmlformats.org/officeDocument/2006/relationships" id="270" r:id="R9d7ff1f2ea9e4d6c"/>
    <p:sldId xmlns:r="http://schemas.openxmlformats.org/officeDocument/2006/relationships" id="271" r:id="R782283339b6849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10de65f14e426d" /><Relationship Type="http://schemas.openxmlformats.org/officeDocument/2006/relationships/slideMaster" Target="/ppt/slideMasters/slideMaster1.xml" Id="Ra3b64a0a00024cb8" /><Relationship Type="http://schemas.openxmlformats.org/officeDocument/2006/relationships/notesMaster" Target="/ppt/notesMasters/notesMaster1.xml" Id="Rb205b86e2068490a" /><Relationship Type="http://schemas.openxmlformats.org/officeDocument/2006/relationships/presProps" Target="/ppt/presProps.xml" Id="Rf3df62b449f24fcc" /><Relationship Type="http://schemas.openxmlformats.org/officeDocument/2006/relationships/tableStyles" Target="/ppt/tableStyles.xml" Id="R787c1213fe114cd4" /><Relationship Type="http://schemas.openxmlformats.org/officeDocument/2006/relationships/slide" Target="/ppt/slides/slide1.xml" Id="Rd3132162573e41d9" /><Relationship Type="http://schemas.openxmlformats.org/officeDocument/2006/relationships/slide" Target="/ppt/slides/slide2.xml" Id="Ree437b9e15e1414b" /><Relationship Type="http://schemas.openxmlformats.org/officeDocument/2006/relationships/slide" Target="/ppt/slides/slide3.xml" Id="Rac7fc6e1b43c4080" /><Relationship Type="http://schemas.openxmlformats.org/officeDocument/2006/relationships/slide" Target="/ppt/slides/slide4.xml" Id="R97de61db05f64724" /><Relationship Type="http://schemas.openxmlformats.org/officeDocument/2006/relationships/slide" Target="/ppt/slides/slide5.xml" Id="R1ecbacee2418442c" /><Relationship Type="http://schemas.openxmlformats.org/officeDocument/2006/relationships/slide" Target="/ppt/slides/slide6.xml" Id="R7ff3e40a9cf14b3e" /><Relationship Type="http://schemas.openxmlformats.org/officeDocument/2006/relationships/slide" Target="/ppt/slides/slide7.xml" Id="Rfe7bdc91a2d5405a" /><Relationship Type="http://schemas.openxmlformats.org/officeDocument/2006/relationships/slide" Target="/ppt/slides/slide8.xml" Id="Rb52fed06262a45f4" /><Relationship Type="http://schemas.openxmlformats.org/officeDocument/2006/relationships/slide" Target="/ppt/slides/slide9.xml" Id="Rd7f5627a8df042ee" /><Relationship Type="http://schemas.openxmlformats.org/officeDocument/2006/relationships/slide" Target="/ppt/slides/slide10.xml" Id="R28925c908ad04cae" /><Relationship Type="http://schemas.openxmlformats.org/officeDocument/2006/relationships/slide" Target="/ppt/slides/slide11.xml" Id="Rd33fb6d36afd4c4a" /><Relationship Type="http://schemas.openxmlformats.org/officeDocument/2006/relationships/slide" Target="/ppt/slides/slide12.xml" Id="R35e78b16d5464938" /><Relationship Type="http://schemas.openxmlformats.org/officeDocument/2006/relationships/slide" Target="/ppt/slides/slide13.xml" Id="R6f633dfee7594a8b" /><Relationship Type="http://schemas.openxmlformats.org/officeDocument/2006/relationships/slide" Target="/ppt/slides/slide14.xml" Id="R1488a1432a0649fb" /><Relationship Type="http://schemas.openxmlformats.org/officeDocument/2006/relationships/slide" Target="/ppt/slides/slide15.xml" Id="R9d7ff1f2ea9e4d6c" /><Relationship Type="http://schemas.openxmlformats.org/officeDocument/2006/relationships/slide" Target="/ppt/slides/slide16.xml" Id="R782283339b6849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4b4e7be1b249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68f9c32490482e" /><Relationship Type="http://schemas.openxmlformats.org/officeDocument/2006/relationships/notesMaster" Target="/ppt/notesMasters/notesMaster1.xml" Id="R7e6f9fa29bbd44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38bbf124654b00" /><Relationship Type="http://schemas.openxmlformats.org/officeDocument/2006/relationships/notesMaster" Target="/ppt/notesMasters/notesMaster1.xml" Id="R96d43e29c6e740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70b5d0e9494b2f" /><Relationship Type="http://schemas.openxmlformats.org/officeDocument/2006/relationships/notesMaster" Target="/ppt/notesMasters/notesMaster1.xml" Id="R3debc79a091c4a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7dd6f851e04bd7" /><Relationship Type="http://schemas.openxmlformats.org/officeDocument/2006/relationships/notesMaster" Target="/ppt/notesMasters/notesMaster1.xml" Id="Rc1a4303a63ef4f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46a8eac8a146ff" /><Relationship Type="http://schemas.openxmlformats.org/officeDocument/2006/relationships/notesMaster" Target="/ppt/notesMasters/notesMaster1.xml" Id="Rc2378717e8af47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8a2e7fc59d4039" /><Relationship Type="http://schemas.openxmlformats.org/officeDocument/2006/relationships/notesMaster" Target="/ppt/notesMasters/notesMaster1.xml" Id="Rc07ca6bd881f47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3f6542ea584729" /><Relationship Type="http://schemas.openxmlformats.org/officeDocument/2006/relationships/notesMaster" Target="/ppt/notesMasters/notesMaster1.xml" Id="R83df2c6fbc334d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3304736cf242ab" /><Relationship Type="http://schemas.openxmlformats.org/officeDocument/2006/relationships/notesMaster" Target="/ppt/notesMasters/notesMaster1.xml" Id="Rd1c1a819b2ad42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faf3f389b844d5" /><Relationship Type="http://schemas.openxmlformats.org/officeDocument/2006/relationships/notesMaster" Target="/ppt/notesMasters/notesMaster1.xml" Id="R107ed50627d24d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5c1fc1b29b44cd" /><Relationship Type="http://schemas.openxmlformats.org/officeDocument/2006/relationships/notesMaster" Target="/ppt/notesMasters/notesMaster1.xml" Id="Rbae66a1d40a242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3abb287db64ed9" /><Relationship Type="http://schemas.openxmlformats.org/officeDocument/2006/relationships/notesMaster" Target="/ppt/notesMasters/notesMaster1.xml" Id="R79822f29696744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2cee181c684fe6" /><Relationship Type="http://schemas.openxmlformats.org/officeDocument/2006/relationships/notesMaster" Target="/ppt/notesMasters/notesMaster1.xml" Id="R0f0267debc3148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2581fc5b75444f" /><Relationship Type="http://schemas.openxmlformats.org/officeDocument/2006/relationships/notesMaster" Target="/ppt/notesMasters/notesMaster1.xml" Id="R3c42acd95c5849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996bc0b99548ac" /><Relationship Type="http://schemas.openxmlformats.org/officeDocument/2006/relationships/notesMaster" Target="/ppt/notesMasters/notesMaster1.xml" Id="Rbd6c8c86cdfb40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e7c774801a406d" /><Relationship Type="http://schemas.openxmlformats.org/officeDocument/2006/relationships/notesMaster" Target="/ppt/notesMasters/notesMaster1.xml" Id="R622f04fa69c645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29ff2251ef4f66" /><Relationship Type="http://schemas.openxmlformats.org/officeDocument/2006/relationships/notesMaster" Target="/ppt/notesMasters/notesMaster1.xml" Id="Rb0363225179843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Sunum, ayrıntılı ana raporun yönetici özetidir. Sayısal durumlar tarih ve doğruluk etiketiyle okunmalıdır.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ERP Core final test için kabul edilmiştir; üretime hazır sertifikası değildir.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docs/erp-v2/final-closure-decision.md</a:t>
            </a:r>
          </a:p>
          <a:p xmlns:a="http://schemas.openxmlformats.org/drawingml/2006/main">
            <a:r>
              <a:t>19 Ağustos 2026 yerel sağlık kontrolleri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Kronoloji Git geçmişi, sprint raporları ve Ağustos entegrasyon çalışmaları üzerinden özetlenmiştir.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Vega sadece salt okunur kullanılmalıdır. Ürün fotoğrafları ve operasyonel yazmalar Melisa ERP tarafında kalır.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ERP Core kapsamı 43 sprintlik stabilizasyon zinciriyle doğrulandı. Üretim readiness ayrı bir kapıdır.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docs/erp-v2/current-status.md</a:t>
            </a:r>
          </a:p>
          <a:p xmlns:a="http://schemas.openxmlformats.org/drawingml/2006/main">
            <a:r>
              <a:t>docs/erp-v2/final-closure-decision.md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Ürün, müşteri, tedarikçi, satış/alış ve finans modülleri ana raporda ayrıntılıdır.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Terminalde hata kuyruğu veya geçersiz oturum varsa cihaz field-ready sayılmaz.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docs/erp-v2/terminal-device-sync-validation-sprint-025-report.md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 Ağustos 2026 sağlık kontrolünde gönderim açık ve liveSendApproved=true. İdempotency hâlâ memory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CRM /api/health 19 Ağustos 2026</a:t>
            </a:r>
          </a:p>
          <a:p xmlns:a="http://schemas.openxmlformats.org/drawingml/2006/main">
            <a:r>
              <a:t>docs/erp-v2/whatsapp-crm-operational-hardening.md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İnsan kabulü 'accepted with warnings' olarak kaydedildi; granüler saha bulguları sınırlıdır.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docs/erp-v2/final-human-acceptance-log.md</a:t>
            </a:r>
          </a:p>
          <a:p xmlns:a="http://schemas.openxmlformats.org/drawingml/2006/main">
            <a:r>
              <a:t>docs/erp-v2/erp-ux-sprint-008-final-regression-report.md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 YTD rakamları 18 Ağustos tarihli salt okunur Vega görüntüsüdür. 2026 tam yıl baz projeksiyondur.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Vega 2026 salt okunur analiz, 18 Ağustos 2026</a:t>
            </a:r>
          </a:p>
          <a:p xmlns:a="http://schemas.openxmlformats.org/drawingml/2006/main">
            <a:r>
              <a:t>https://www.tcmb.gov.tr/kurlar/kurlar_tr.html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Stok sayıları 18 Ağustos 2026 tarihli Vega anlık görüntüsüdür.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Örnek müşteri bakiyeleri ve DSO rakamları tarihli analizdir; güncel karar öncesi yenilenmelidir.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Senaryolar yönetim varsayımlarıdır; piyasa ve şirket kapasitesiyle stres test edilmelidir.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https://icticaret.ticaret.gov.tr/haberler/turkiyede-e-ticaretin-gorunumu-raporu-2025in-ingilizce-versiyonu-yayimlandi</a:t>
            </a:r>
          </a:p>
          <a:p xmlns:a="http://schemas.openxmlformats.org/drawingml/2006/main">
            <a:r>
              <a:t>https://datareportal.com/reports/digital-2026-turkey</a:t>
            </a:r>
          </a:p>
          <a:p xmlns:a="http://schemas.openxmlformats.org/drawingml/2006/main">
            <a:r>
              <a:t>https://about.fb.com/news/2025/04/ways-to-manage-your-businesses-chats-on-whatsapp/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10m köprüsü planlama modelidir. Gelir kalemleri, marj ve çalışma sermayesiyle birlikte doğrulanmalıdır.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Çalışma ağacında çok sayıda commit edilmemiş değişiklik vardır. Raporda bulunan güncel yeteneklerin bir bölümü henüz release-baselined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Ayrıntılı değerlendirme talimatı master raporun 15. bölümündedir.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6fabc23304a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fd5e43ce7e45f5" /><Relationship Type="http://schemas.openxmlformats.org/officeDocument/2006/relationships/slideLayout" Target="/ppt/slideLayouts/slideLayout1.xml" Id="R438b001d50bd47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8b001d50bd47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ec1f60d0c409b" /><Relationship Type="http://schemas.openxmlformats.org/officeDocument/2006/relationships/notesSlide" Target="/ppt/notesSlides/notesSlide1.xml" Id="R34b228c8d8c44a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d7a5706fa48db" /><Relationship Type="http://schemas.openxmlformats.org/officeDocument/2006/relationships/notesSlide" Target="/ppt/notesSlides/notesSlide2.xml" Id="R5133f10f1b2847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2b14bc9234ef9" /><Relationship Type="http://schemas.openxmlformats.org/officeDocument/2006/relationships/notesSlide" Target="/ppt/notesSlides/notesSlide3.xml" Id="R26c04a7e7dca45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165a21d0443e7" /><Relationship Type="http://schemas.openxmlformats.org/officeDocument/2006/relationships/notesSlide" Target="/ppt/notesSlides/notesSlide4.xml" Id="R8ec966d0868443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c19a9862c42c0" /><Relationship Type="http://schemas.openxmlformats.org/officeDocument/2006/relationships/notesSlide" Target="/ppt/notesSlides/notesSlide5.xml" Id="Rd44b9f147f8240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e053c680f40d9" /><Relationship Type="http://schemas.openxmlformats.org/officeDocument/2006/relationships/notesSlide" Target="/ppt/notesSlides/notesSlide6.xml" Id="R283659dc44e54d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d4fdc546c4e64" /><Relationship Type="http://schemas.openxmlformats.org/officeDocument/2006/relationships/notesSlide" Target="/ppt/notesSlides/notesSlide7.xml" Id="R831509ecf3ed45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169c87645469f" /><Relationship Type="http://schemas.openxmlformats.org/officeDocument/2006/relationships/notesSlide" Target="/ppt/notesSlides/notesSlide8.xml" Id="Rdb5945bb75ad40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81348469f40a1" /><Relationship Type="http://schemas.openxmlformats.org/officeDocument/2006/relationships/notesSlide" Target="/ppt/notesSlides/notesSlide9.xml" Id="Rf70aa4338edc45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b956b06c24199" /><Relationship Type="http://schemas.openxmlformats.org/officeDocument/2006/relationships/chart" Target="/ppt/slides/charts/chart1.xml" Id="R33fee2a041354328" /><Relationship Type="http://schemas.openxmlformats.org/officeDocument/2006/relationships/notesSlide" Target="/ppt/notesSlides/notesSlide10.xml" Id="R99e815f5179642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b8d2ca1fe4656" /><Relationship Type="http://schemas.openxmlformats.org/officeDocument/2006/relationships/notesSlide" Target="/ppt/notesSlides/notesSlide11.xml" Id="Redbd1a64b4da4b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37c8248f746f5" /><Relationship Type="http://schemas.openxmlformats.org/officeDocument/2006/relationships/notesSlide" Target="/ppt/notesSlides/notesSlide12.xml" Id="Rc9bf04b65f0245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4133a492c459d" /><Relationship Type="http://schemas.openxmlformats.org/officeDocument/2006/relationships/chart" Target="/ppt/slides/charts/chart2.xml" Id="Rd37803597e3f461b" /><Relationship Type="http://schemas.openxmlformats.org/officeDocument/2006/relationships/notesSlide" Target="/ppt/notesSlides/notesSlide13.xml" Id="R4cad5806547c46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bc5b6112448c0" /><Relationship Type="http://schemas.openxmlformats.org/officeDocument/2006/relationships/chart" Target="/ppt/slides/charts/chart3.xml" Id="Rc6a03ccff6f14004" /><Relationship Type="http://schemas.openxmlformats.org/officeDocument/2006/relationships/notesSlide" Target="/ppt/notesSlides/notesSlide14.xml" Id="R2293583b7e0a47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88e738bea4e7d" /><Relationship Type="http://schemas.openxmlformats.org/officeDocument/2006/relationships/notesSlide" Target="/ppt/notesSlides/notesSlide15.xml" Id="R68674df4226444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0dbe2747b4214" /><Relationship Type="http://schemas.openxmlformats.org/officeDocument/2006/relationships/notesSlide" Target="/ppt/notesSlides/notesSlide16.xml" Id="Rd1a4a34339aa47e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2025 aynı dönem</c:v>
          </c:tx>
          <c:spPr>
            <a:solidFill xmlns:a="http://schemas.openxmlformats.org/drawingml/2006/main">
              <a:srgbClr val="D8E2EC"/>
            </a:solidFill>
          </c:spPr>
          <c:cat>
            <c:strLit>
              <c:ptCount val="4"/>
              <c:pt idx="0">
                <c:v>USD</c:v>
              </c:pt>
              <c:pt idx="1">
                <c:v>EUR</c:v>
              </c:pt>
              <c:pt idx="2">
                <c:v>TRY</c:v>
              </c:pt>
              <c:pt idx="3">
                <c:v>Miktar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</c:numLit>
          </c:val>
        </c:ser>
        <c:ser>
          <c:idx val="1"/>
          <c:order val="1"/>
          <c:tx>
            <c:v>2026 endeksi</c:v>
          </c:tx>
          <c:spPr>
            <a:solidFill xmlns:a="http://schemas.openxmlformats.org/drawingml/2006/main">
              <a:srgbClr val="008B8B"/>
            </a:solidFill>
          </c:spPr>
          <c:cat>
            <c:strLit>
              <c:ptCount val="4"/>
              <c:pt idx="0">
                <c:v>USD</c:v>
              </c:pt>
              <c:pt idx="1">
                <c:v>EUR</c:v>
              </c:pt>
              <c:pt idx="2">
                <c:v>TRY</c:v>
              </c:pt>
              <c:pt idx="3">
                <c:v>Miktar</c:v>
              </c:pt>
            </c:strLit>
          </c:cat>
          <c:val>
            <c:numLit>
              <c:formatCode>General</c:formatCode>
              <c:ptCount val="4"/>
              <c:pt idx="0">
                <c:v>94.4</c:v>
              </c:pt>
              <c:pt idx="1">
                <c:v>114.5</c:v>
              </c:pt>
              <c:pt idx="2">
                <c:v>79.4</c:v>
              </c:pt>
              <c:pt idx="3">
                <c:v>95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spPr>
    <a:solidFill xmlns:a="http://schemas.openxmlformats.org/drawingml/2006/main">
      <a:srgbClr val="F4F7FA"/>
    </a:solidFill>
    <a:ln xmlns:a="http://schemas.openxmlformats.org/drawingml/2006/main" w="0">
      <a:solidFill>
        <a:srgbClr val="F4F7FA"/>
      </a:solidFill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Temkinli</c:v>
          </c:tx>
          <c:spPr>
            <a:solidFill xmlns:a="http://schemas.openxmlformats.org/drawingml/2006/main">
              <a:srgbClr val="5C6B7A"/>
            </a:solidFill>
            <a:ln xmlns:a="http://schemas.openxmlformats.org/drawingml/2006/main" w="28575">
              <a:solidFill>
                <a:srgbClr val="5C6B7A"/>
              </a:solidFill>
            </a:ln>
          </c:spPr>
          <c:marker>
            <c:symbol val="none"/>
          </c:marker>
          <c:cat>
            <c:strLit>
              <c:ptCount val="4"/>
              <c:pt idx="0">
                <c:v>Bugün</c:v>
              </c:pt>
              <c:pt idx="1">
                <c:v>1. yıl</c:v>
              </c:pt>
              <c:pt idx="2">
                <c:v>2. yıl</c:v>
              </c:pt>
              <c:pt idx="3">
                <c:v>3. yıl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120</c:v>
              </c:pt>
              <c:pt idx="2">
                <c:v>138</c:v>
              </c:pt>
              <c:pt idx="3">
                <c:v>155</c:v>
              </c:pt>
            </c:numLit>
          </c:val>
        </c:ser>
        <c:ser>
          <c:idx val="1"/>
          <c:order val="1"/>
          <c:tx>
            <c:v>Merkezi</c:v>
          </c:tx>
          <c:spPr>
            <a:solidFill xmlns:a="http://schemas.openxmlformats.org/drawingml/2006/main">
              <a:srgbClr val="008B8B"/>
            </a:solidFill>
            <a:ln xmlns:a="http://schemas.openxmlformats.org/drawingml/2006/main" w="38100">
              <a:solidFill>
                <a:srgbClr val="008B8B"/>
              </a:solidFill>
            </a:ln>
          </c:spPr>
          <c:marker>
            <c:symbol val="none"/>
          </c:marker>
          <c:cat>
            <c:strLit>
              <c:ptCount val="4"/>
              <c:pt idx="0">
                <c:v>Bugün</c:v>
              </c:pt>
              <c:pt idx="1">
                <c:v>1. yıl</c:v>
              </c:pt>
              <c:pt idx="2">
                <c:v>2. yıl</c:v>
              </c:pt>
              <c:pt idx="3">
                <c:v>3. yıl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142</c:v>
              </c:pt>
              <c:pt idx="2">
                <c:v>185</c:v>
              </c:pt>
              <c:pt idx="3">
                <c:v>222</c:v>
              </c:pt>
            </c:numLit>
          </c:val>
        </c:ser>
        <c:ser>
          <c:idx val="2"/>
          <c:order val="2"/>
          <c:tx>
            <c:v>Güçlü</c:v>
          </c:tx>
          <c:spPr>
            <a:solidFill xmlns:a="http://schemas.openxmlformats.org/drawingml/2006/main">
              <a:srgbClr val="F0A43A"/>
            </a:solidFill>
            <a:ln xmlns:a="http://schemas.openxmlformats.org/drawingml/2006/main" w="28575">
              <a:solidFill>
                <a:srgbClr val="F0A43A"/>
              </a:solidFill>
            </a:ln>
          </c:spPr>
          <c:marker>
            <c:symbol val="none"/>
          </c:marker>
          <c:cat>
            <c:strLit>
              <c:ptCount val="4"/>
              <c:pt idx="0">
                <c:v>Bugün</c:v>
              </c:pt>
              <c:pt idx="1">
                <c:v>1. yıl</c:v>
              </c:pt>
              <c:pt idx="2">
                <c:v>2. yıl</c:v>
              </c:pt>
              <c:pt idx="3">
                <c:v>3. yıl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170</c:v>
              </c:pt>
              <c:pt idx="2">
                <c:v>238</c:v>
              </c:pt>
              <c:pt idx="3">
                <c:v>309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spPr>
    <a:solidFill xmlns:a="http://schemas.openxmlformats.org/drawingml/2006/main">
      <a:srgbClr val="F4F7FA"/>
    </a:solidFill>
    <a:ln xmlns:a="http://schemas.openxmlformats.org/drawingml/2006/main" w="0">
      <a:solidFill>
        <a:srgbClr val="F4F7FA"/>
      </a:solidFill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USD eşdeğeri (m)</c:v>
          </c:tx>
          <c:spPr>
            <a:solidFill xmlns:a="http://schemas.openxmlformats.org/drawingml/2006/main">
              <a:srgbClr val="D64545"/>
            </a:solidFill>
            <a:ln xmlns:a="http://schemas.openxmlformats.org/drawingml/2006/main" w="47625">
              <a:solidFill>
                <a:srgbClr val="D64545"/>
              </a:solidFill>
            </a:ln>
          </c:spPr>
          <c:marker>
            <c:symbol val="none"/>
          </c:marker>
          <c:cat>
            <c:strLit>
              <c:ptCount val="5"/>
              <c:pt idx="0">
                <c:v>Baz</c:v>
              </c:pt>
              <c:pt idx="1">
                <c:v>2027</c:v>
              </c:pt>
              <c:pt idx="2">
                <c:v>2028</c:v>
              </c:pt>
              <c:pt idx="3">
                <c:v>2029</c:v>
              </c:pt>
              <c:pt idx="4">
                <c:v>2030</c:v>
              </c:pt>
            </c:strLit>
          </c:cat>
          <c:val>
            <c:numLit>
              <c:formatCode>General</c:formatCode>
              <c:ptCount val="5"/>
              <c:pt idx="0">
                <c:v>3.856</c:v>
              </c:pt>
              <c:pt idx="1">
                <c:v>5</c:v>
              </c:pt>
              <c:pt idx="2">
                <c:v>6.5</c:v>
              </c:pt>
              <c:pt idx="3">
                <c:v>8.2</c:v>
              </c:pt>
              <c:pt idx="4">
                <c:v>10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4F7FA"/>
    </a:solidFill>
    <a:ln xmlns:a="http://schemas.openxmlformats.org/drawingml/2006/main" w="0">
      <a:solidFill>
        <a:srgbClr val="F4F7FA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198F8-11AC-4E9B-97CB-A6BC3EAA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MELİSA BABY  /  YÖNETİM DOSYASI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E9BA-8E09-4C67-B614-166303B1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64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ERP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100B0-D2DC-4657-A6A6-3D5B8C81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581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008B8B"/>
                </a:solidFill>
                <a:latin typeface="Aptos"/>
                <a:ea typeface="Aptos"/>
                <a:cs typeface="Aptos"/>
              </a:rPr>
              <a:t>Proje hafızası, şirket verisi</a:t>
            </a:r>
          </a:p>
          <a:p xmlns:a="http://schemas.openxmlformats.org/drawingml/2006/main">
            <a:pPr algn="l">
              <a:defRPr sz="2700" b="0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008B8B"/>
                </a:solidFill>
                <a:latin typeface="Aptos"/>
                <a:ea typeface="Aptos"/>
                <a:cs typeface="Aptos"/>
              </a:rPr>
              <a:t>ve 10 milyon USD yol haritası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11845-F736-4CCC-817A-CC5DD1C3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04875"/>
            <a:ext cx="4095750" cy="4476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9FDD1-6301-4221-A86E-1EB39C31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525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Mayıs → Ağustos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F1689-8844-48DC-8AF3-721111C8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384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F324B-2AAB-45EC-8F4D-EC6A68C5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95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EFF6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9E52E-39BB-417B-91E0-D93A8A78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290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BC3E1-BD80-4AC8-9D56-02F8B0D4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EFF6"/>
                </a:solidFill>
                <a:latin typeface="Aptos"/>
                <a:ea typeface="Aptos"/>
                <a:cs typeface="Aptos"/>
              </a:rPr>
              <a:t>ERP Core sprint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56156-5E84-482F-9770-8BF74E58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195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 + 8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FF3F4-16CD-4F65-A284-43EF0FD4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7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EFF6"/>
                </a:solidFill>
                <a:latin typeface="Aptos"/>
                <a:ea typeface="Aptos"/>
                <a:cs typeface="Aptos"/>
              </a:rPr>
              <a:t>UX / CRM sprint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B1303-45A9-47F9-8ECF-12AADFF9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101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0A43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B1029-FA21-4B51-AEC6-364EEA60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67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EFF6"/>
                </a:solidFill>
                <a:latin typeface="Aptos"/>
                <a:ea typeface="Aptos"/>
                <a:cs typeface="Aptos"/>
              </a:rPr>
              <a:t>canlı servis yüzeyi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ABFD9-1706-40F6-992C-F51B0931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19 Ağustos 2026  •  Şirket içi ve kontrollü AI değerlendirmesi</a:t>
            </a:r>
          </a:p>
        </p:txBody>
      </p:sp>
    </p:spTree>
    <p:extLst>
      <p:ext uri="{BB962C8B-B14F-4D97-AF65-F5344CB8AC3E}">
        <p14:creationId xmlns:p14="http://schemas.microsoft.com/office/powerpoint/2010/main" val="1877462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88972-B456-463A-81C6-386E5C09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YÖNETICI ÖZETI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D9732-52A4-42DB-B537-A50AE4C9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Bir stok programından işletim sistemine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E2986-86AD-45F9-B370-EBA0BCE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568C7-02E0-4BD7-B8EC-CD5B435C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Melisa ERP; operasyon, mobil saha, dış veri ve WhatsApp satışını aynı iş gerçeğinde birleştirdi.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0DED6-BA39-429B-A4D0-0B892FB0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2571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8E3EE-836B-45A0-B2D5-36DCC2CF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0">
            <a:solidFill>
              <a:srgbClr val="1987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5A854-FC6F-4ECB-877E-B82303CD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ERP 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CC0A0-4AD3-4A78-ACEE-AD0A314E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Kabul edildi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0462B-62DB-445F-92FA-EBA14195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Uyarılar ve üretim kapıları açık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AA23D-A9D4-47E7-A896-8365BD3E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2571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0DBB3-26F8-4F08-8CFB-BBC48C20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E8"/>
          </a:solidFill>
          <a:ln xmlns:a="http://schemas.openxmlformats.org/drawingml/2006/main" w="0">
            <a:solidFill>
              <a:srgbClr val="3D6F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DE0F4-8B88-4674-AF37-31D0CDFD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CANLI SERVIS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A8D68-1242-41DF-9409-E8F22CD1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5752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5 yüzey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A4367-166B-44D4-8E79-5DE3E41A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Web, API, CRM, Chatwoot, Evolution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CDB2A-D211-400D-B274-EBF9A85C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90800"/>
            <a:ext cx="2571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BEEAA-B1C2-40B7-8A60-179158CC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9080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0">
            <a:solidFill>
              <a:srgbClr val="F0A4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7032F-C4BF-490F-9E84-AA348C49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BAZ CIRO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5EC4D-449F-4132-86BC-DB108DD1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$3,86m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B030F-3789-4B67-9D67-936AE07E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2026 yıllık USD eşdeğeri tahmin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7EAF4-74AD-4190-8F2B-F0D4F28B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2571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D1D721-B240-4361-8C29-632899E6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E4CD55-E371-44AB-ACB1-85F5C55B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ANA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60B0B-03C7-40C4-879D-143B79D8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5752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Dirty tree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D4A10D-CB67-49CA-BDDD-E280AB93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57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Temmuz sonrası tek release değil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5C9DD2-AD29-481F-94A5-746374B4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109728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0">
            <a:solidFill>
              <a:srgbClr val="E8EF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A82658-0375-4A80-A4FD-5FC255D9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Sonraki doğru adım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F0BFFA-773A-45E6-BEF5-1031E796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367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Yeni özellik eklemekten önce temiz sürüm, gerçek yedek/geri dönüş, stok-muhasebe mutabakatı ve saha testi.</a:t>
            </a:r>
          </a:p>
        </p:txBody>
      </p:sp>
    </p:spTree>
    <p:extLst>
      <p:ext uri="{BB962C8B-B14F-4D97-AF65-F5344CB8AC3E}">
        <p14:creationId xmlns:p14="http://schemas.microsoft.com/office/powerpoint/2010/main" val="264459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88A55E-FDB2-42AA-8674-5DA50690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PROJE KRONOLOJISI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BE129-57E0-4DDD-9C33-8ACB5688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Dört ayda dört dönüşüm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A0139-DAF7-4324-8135-9D07E6FA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000125" y="3105150"/>
            <a:ext cx="9763125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33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E890B-4CFA-4476-82CD-140E7CC7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6FE8"/>
          </a:solidFill>
          <a:ln xmlns:a="http://schemas.openxmlformats.org/drawingml/2006/main" w="0">
            <a:solidFill>
              <a:srgbClr val="3D6F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5B3ED-A75B-4B3C-B5B9-A752D409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7990"/>
            <a:ext cx="4572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294E4-1101-456F-BB82-FEC3E202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MAYIS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E51B6-1702-4E3E-AFAD-DA475D4A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Temel ERP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31849-1C4E-4927-A180-DE44D021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Stok, cari, satış, alış, finans</a:t>
            </a:r>
          </a:p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API + SQL + taslak/kesin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BBB9E-64C3-451A-93E4-C11EE395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CEB41-155C-48CC-9495-8E1213C5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67990"/>
            <a:ext cx="4572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CAF9F-5C93-410A-9B50-DB2C3801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71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HAZİRAN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424BB-936B-4E8D-9598-E9BA531A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623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Operasyonel güven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F27A8-0136-4B94-BBF7-501BB636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7670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Yetki, audit, import, finans</a:t>
            </a:r>
          </a:p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yedek sınırları ve sağlık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95E34-1514-4853-AA98-4E368858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0">
            <a:solidFill>
              <a:srgbClr val="F0A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E1127-4652-4E27-8516-DB828ED5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7990"/>
            <a:ext cx="4572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2E68F-F551-4F63-8B0B-53DE1BC8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71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TEMMUZ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940C8-EFD6-473B-B75C-D6C9F882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Test + kabul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75BDA-AA37-4FEC-9970-49A51643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7670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43 sprint, terminal, CRM sınırı</a:t>
            </a:r>
          </a:p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insan kabulü: uyarılarla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A8560A-2382-413C-AB7A-9BC4044C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2A636-0FF4-48D1-B346-91BC2BEC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967990"/>
            <a:ext cx="4572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7E3C8C-31B1-4B28-90F2-58A13AFB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71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AĞUSTOS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6CF2A9-5633-4C7F-8431-297FE2DF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623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Canlı veri + büyüme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F559F7-D1A5-4618-80A8-6562E63E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7670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Vega salt okunur, UX/CRM</a:t>
            </a:r>
          </a:p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OCR, rapor ve $10m planı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11E8E5-5139-4B3D-8AFA-74EDECE1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F2156-6E11-428F-B0B3-45C09145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02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Kazanım: ekran geliştirmeden veri bütünlüğü, saha, CRM ve karar desteğine geçiş.</a:t>
            </a:r>
          </a:p>
        </p:txBody>
      </p:sp>
    </p:spTree>
    <p:extLst>
      <p:ext uri="{BB962C8B-B14F-4D97-AF65-F5344CB8AC3E}">
        <p14:creationId xmlns:p14="http://schemas.microsoft.com/office/powerpoint/2010/main" val="1114186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751E22-E8F1-4F88-BBB7-5C0ED7E0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SISTEM MIMARISI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DF2FD-98F3-4F0B-A363-1DC2467A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Tek merkez, kontrollü dış bağlantılar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46C36-D21D-42FD-B85C-79111EAE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6FEDF-ABD0-4AC9-BDC3-A4BEE438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2476500" cy="37338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9095D-48EA-479F-AFD6-ACE9B9F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EFF6"/>
                </a:solidFill>
                <a:latin typeface="Aptos"/>
                <a:ea typeface="Aptos"/>
                <a:cs typeface="Aptos"/>
              </a:rPr>
              <a:t>KULLANICI</a:t>
            </a:r>
          </a:p>
          <a:p xmlns:a="http://schemas.openxmlformats.org/drawingml/2006/main">
            <a:pPr algn="l">
              <a:defRPr sz="1350" b="1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EFF6"/>
                </a:solidFill>
                <a:latin typeface="Aptos"/>
                <a:ea typeface="Aptos"/>
                <a:cs typeface="Aptos"/>
              </a:rPr>
              <a:t>YÜZEYLERİ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25D6F-D79D-4EBA-8D49-E8341DA6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75F"/>
          </a:solidFill>
          <a:ln xmlns:a="http://schemas.openxmlformats.org/drawingml/2006/main" w="9525">
            <a:solidFill>
              <a:srgbClr val="3157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C107C-939A-4F44-B393-F915DEE5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 ERP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9649D-ECC7-4FE4-9480-63C21CE3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670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0A43A"/>
                </a:solidFill>
                <a:latin typeface="Aptos"/>
                <a:ea typeface="Aptos"/>
                <a:cs typeface="Aptos"/>
              </a:rPr>
              <a:t>:5173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26612-536A-4C37-BDE2-E2077BB6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75F"/>
          </a:solidFill>
          <a:ln xmlns:a="http://schemas.openxmlformats.org/drawingml/2006/main" w="9525">
            <a:solidFill>
              <a:srgbClr val="3157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6275E-552D-4E4A-9F69-4EB8D581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Android Terminal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30804-AF3C-4E15-9315-2477F1FD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766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38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0A43A"/>
                </a:solidFill>
                <a:latin typeface="Aptos"/>
                <a:ea typeface="Aptos"/>
                <a:cs typeface="Aptos"/>
              </a:rPr>
              <a:t>Expo / APK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7F5AB-98E1-4BEE-BC75-8892172D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75F"/>
          </a:solidFill>
          <a:ln xmlns:a="http://schemas.openxmlformats.org/drawingml/2006/main" w="9525">
            <a:solidFill>
              <a:srgbClr val="3157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0D418-67AE-4EA1-A36D-2F9FD15A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Windows Masaüstü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F5933-D8BD-412A-9C32-F7E633EA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0A43A"/>
                </a:solidFill>
                <a:latin typeface="Aptos"/>
                <a:ea typeface="Aptos"/>
                <a:cs typeface="Aptos"/>
              </a:rPr>
              <a:t>Electron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1764E-4FB4-43F6-AF25-224CA642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75F"/>
          </a:solidFill>
          <a:ln xmlns:a="http://schemas.openxmlformats.org/drawingml/2006/main" w="9525">
            <a:solidFill>
              <a:srgbClr val="3157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3A557-16C7-4E3A-92B1-7E4FCDC0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WhatsApp CRM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CE12E-4C37-4CAD-AA8A-F94374B4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958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0A43A"/>
                </a:solidFill>
                <a:latin typeface="Aptos"/>
                <a:ea typeface="Aptos"/>
                <a:cs typeface="Aptos"/>
              </a:rPr>
              <a:t>:3100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DEF57-6B9D-42B4-A12B-BCEB9A97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33600"/>
            <a:ext cx="3333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6F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0A6C6-FDB6-41EA-A2AA-73626DCD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526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ERP API  :4100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02EB7-8981-48A1-A749-7A75FED0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09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İş kuralları • audit • yetki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BDD77-4174-4499-BA07-74C803CE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43350"/>
            <a:ext cx="3333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B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6DB83-CCD7-4AEF-ADCF-C5760781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624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CRM API  :4200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77B4D-D114-4BDA-A49C-2F8B7028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196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Atama • görev • teklif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2952750" y="2752725"/>
            <a:ext cx="89535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B7A"/>
            </a:solidFill>
            <a:prstDash val="solid"/>
          </a:ln>
        </p:spPr>
      </p:cxnSp>
      <p:cxnSp>
        <p:nvCxnSpPr>
          <p:cNvPr id="64" name=""/>
          <p:cNvCxnSpPr/>
          <p:nvPr/>
        </p:nvCxnSpPr>
        <p:spPr>
          <a:xfrm xmlns:a="http://schemas.openxmlformats.org/drawingml/2006/main">
            <a:off x="2952750" y="4000500"/>
            <a:ext cx="89535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B7A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BBC932-915F-4EF5-A864-A2E31E0C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3524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676776-09FE-4822-9A68-117C45BA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MELISA_ERP_V2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7DCF0-772A-4A7C-9871-DDBD1764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669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Operasyonel SQL Server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9F4BB8-CEE7-42AB-A123-8A418F49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3524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57F73F-4DC5-4DFC-9BDA-236A067E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VEGA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1E6F34-CE1F-4FF2-8D34-4BDE91D1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004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64545"/>
                </a:solidFill>
                <a:latin typeface="Aptos"/>
                <a:ea typeface="Aptos"/>
                <a:cs typeface="Aptos"/>
              </a:rPr>
              <a:t>F0102/F0103 • SELECT-only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F8DCF1-9558-44D4-85C5-4B74DAA7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3524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CD59D0-6A14-4EF5-B1B9-6721FEEF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CHATWOOT + EVOLUTION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7E36A5-99C0-4169-8774-867F3C9F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339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Gelen kutusu ve WhatsApp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7181850" y="2343150"/>
            <a:ext cx="91440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B7A"/>
            </a:solidFill>
            <a:prstDash val="solid"/>
          </a:ln>
        </p:spPr>
      </p:cxnSp>
      <p:cxnSp>
        <p:nvCxnSpPr>
          <p:cNvPr id="75" name=""/>
          <p:cNvCxnSpPr/>
          <p:nvPr/>
        </p:nvCxnSpPr>
        <p:spPr>
          <a:xfrm xmlns:a="http://schemas.openxmlformats.org/drawingml/2006/main">
            <a:off x="7181850" y="2752725"/>
            <a:ext cx="91440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B7A"/>
            </a:solidFill>
            <a:prstDash val="solid"/>
          </a:ln>
        </p:spPr>
      </p:cxnSp>
      <p:cxnSp>
        <p:nvCxnSpPr>
          <p:cNvPr id="76" name=""/>
          <p:cNvCxnSpPr/>
          <p:nvPr/>
        </p:nvCxnSpPr>
        <p:spPr>
          <a:xfrm xmlns:a="http://schemas.openxmlformats.org/drawingml/2006/main">
            <a:off x="7181850" y="4562475"/>
            <a:ext cx="91440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B7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109973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D57A6-4EE8-4B0A-87A9-F0EDF6CD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BAŞARILAR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17538-3F4A-46A6-B355-03550DF8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ERP Core: geniş kapsam, kontrollü etki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9923A-7F6F-4D47-A35B-57ADD218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660AF-A72F-4356-B934-171C8295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2006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9C515-589E-4A93-BDED-D31A53E7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6FE8"/>
          </a:solidFill>
          <a:ln xmlns:a="http://schemas.openxmlformats.org/drawingml/2006/main" w="0">
            <a:solidFill>
              <a:srgbClr val="3D6F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C688A-274A-4875-9F3E-575698DE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0745"/>
            <a:ext cx="5143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246BA-9A5D-46EA-8A95-97CB9CDC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574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Ticari omurga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404E6-836E-4BB3-ACF1-8A77CBEF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Stok • cari • satış • alış • finans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8A1A9-A5F3-488A-958C-B38D188F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52006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57219-AA6F-4D75-9818-29D3AB29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47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9408A-0561-4E0D-BBC4-1EE77B82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0745"/>
            <a:ext cx="5143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BACBC-1DCF-440F-8806-E97DB7B7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574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Belge gerçeği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EC2A6-3C56-43BA-B614-498CDF47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Taslak • kesin • iptal • ters kayıt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9C6F8-181B-42CB-9F63-CCC87145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52006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FC19A-7FB4-470D-92D9-79447DAF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0">
            <a:solidFill>
              <a:srgbClr val="F0A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3A5F3-3115-4C9D-BAF0-BC55AB45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3370"/>
            <a:ext cx="5143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6C601-0291-41D0-931E-82F90E0C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00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Kontrol katmanı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44240-C5A3-4D90-AE0D-C45BC750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053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Yetki • audit • import önizleme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BAE84-6597-4023-A400-D0E65DC2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62375"/>
            <a:ext cx="52006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48427-C2FA-49DF-B1DF-4FF96274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5DD1CE-364D-4466-91FA-DE357986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3370"/>
            <a:ext cx="5143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CA1269-3E25-492A-AF59-CF2B2DAB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100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Karar desteği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C97CE-F6FB-4BF1-A24A-83518089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053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Rapor • dashboard • döviz görüntüsü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803F7-FCFC-4C40-BA57-EFF23FF8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87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0A4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0A6E2-A961-40F2-80EF-1F337B1C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Kabul kararı ≠ üretim kapılarının kapanması</a:t>
            </a:r>
          </a:p>
        </p:txBody>
      </p:sp>
    </p:spTree>
    <p:extLst>
      <p:ext uri="{BB962C8B-B14F-4D97-AF65-F5344CB8AC3E}">
        <p14:creationId xmlns:p14="http://schemas.microsoft.com/office/powerpoint/2010/main" val="19189176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E59908-ECCC-42A4-8674-E826A89D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OPERASYON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292C5-E38D-4918-BDDA-446ABA26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Stoktan tahsilata görev odaklı akış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4638D-AC40-4AE9-A6C6-BED07BD5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00774-F782-4402-8282-EA3019BA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809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6FE8"/>
          </a:solidFill>
          <a:ln xmlns:a="http://schemas.openxmlformats.org/drawingml/2006/main" w="0">
            <a:solidFill>
              <a:srgbClr val="3D6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DA8C4-C375-4A25-9A69-2FA086D3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943100"/>
            <a:ext cx="66675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14D0D-552B-46A2-A1E6-299836CF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Ürün / Stok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C14D0-D79D-436F-A15B-EC74F7E1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Anlık mükerrer uyarı</a:t>
            </a:r>
          </a:p>
          <a:p xmlns:a="http://schemas.openxmlformats.org/drawingml/2006/main">
            <a:pPr algn="ctr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Toplu kart + OCR</a:t>
            </a:r>
          </a:p>
          <a:p xmlns:a="http://schemas.openxmlformats.org/drawingml/2006/main">
            <a:pPr algn="ctr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Kart açılış tarihi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6578A-2625-4394-A809-DE4E72B5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52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3962B-A4B9-42DA-A762-7C7FBD11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A668D-9195-4CB5-9578-A0920E63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66675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DB83C-43B8-4041-BA64-3B45542D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86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Müşteri / Tedarikçi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B2BE8-40E2-41E0-A968-F523BCE0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7660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Vega canlı cari</a:t>
            </a:r>
          </a:p>
          <a:p xmlns:a="http://schemas.openxmlformats.org/drawingml/2006/main">
            <a:pPr algn="ctr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Hareket + belge popup</a:t>
            </a:r>
          </a:p>
          <a:p xmlns:a="http://schemas.openxmlformats.org/drawingml/2006/main">
            <a:pPr algn="ctr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Müşteri/tedarikçi ayrımı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5BF66-1D62-4658-AB0E-F1159081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952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8F33F-3036-454D-9E23-DB56B125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09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0">
            <a:solidFill>
              <a:srgbClr val="F0A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1597A-DE75-4DEB-8D44-8077AABB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43100"/>
            <a:ext cx="66675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6BD93-1662-4A05-BDF7-86655FBE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Satış / Alış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57431-6A50-46C6-9D50-E7077C0C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Detaylı arama</a:t>
            </a:r>
          </a:p>
          <a:p xmlns:a="http://schemas.openxmlformats.org/drawingml/2006/main">
            <a:pPr algn="ctr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Peşin TL/USD/EUR</a:t>
            </a:r>
          </a:p>
          <a:p xmlns:a="http://schemas.openxmlformats.org/drawingml/2006/main">
            <a:pPr algn="ctr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Başlık + satır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5C566-F9B1-47F6-AB5A-3ADB911D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52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E4573-5F0B-4E0F-B257-EBE063BE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09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9DC09-4E4D-429C-87B2-B7155EAD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43100"/>
            <a:ext cx="66675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46749-3FFD-47F9-8828-931E8FBF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686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Finans / Rapor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4C79A-F3F2-4E7B-A6EA-9667FA74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7660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Tahsilat/ödeme</a:t>
            </a:r>
          </a:p>
          <a:p xmlns:a="http://schemas.openxmlformats.org/drawingml/2006/main">
            <a:pPr algn="ctr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Çoklu döviz</a:t>
            </a:r>
          </a:p>
          <a:p xmlns:a="http://schemas.openxmlformats.org/drawingml/2006/main">
            <a:pPr algn="ctr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Performans raporu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5C21A3-5A00-4C1F-86CA-BBAA3D1C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668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0">
            <a:solidFill>
              <a:srgbClr val="E8EF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E11C1-9CDE-4BEB-8439-7068A4F9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768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Vega etkilenmez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038AF1-9CA3-4FBF-8F4B-8D2D34B8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38725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Stok kartı, cari ve belgeler canlı okunur; fotoğraf ve işlem yazmaları Melisa ERP’de kalır.</a:t>
            </a:r>
          </a:p>
        </p:txBody>
      </p:sp>
    </p:spTree>
    <p:extLst>
      <p:ext uri="{BB962C8B-B14F-4D97-AF65-F5344CB8AC3E}">
        <p14:creationId xmlns:p14="http://schemas.microsoft.com/office/powerpoint/2010/main" val="16475045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A7D88B-124F-4CE0-AD7E-640237BD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TERMINAL + MASAÜSTÜ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01E7C-CAD8-4A32-99AA-53399470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Saha uygulaması iş sürekliliğini taşıyor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8741D-B78E-4CC5-801E-D8F8454E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97AB6-86FA-42F8-980D-62B04C5F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714750" cy="4095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A6CC6-70CD-4C38-BEAA-4F75B0BB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ANDROID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TERMİNALİ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4D493-3550-4981-8445-9C261C92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D74C7-6247-4CD1-8AD1-9FBE0B40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7060"/>
            <a:ext cx="20955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56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60CE9-F2CB-4369-9995-D261CD7D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86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EFF6"/>
                </a:solidFill>
                <a:latin typeface="Aptos"/>
                <a:ea typeface="Aptos"/>
                <a:cs typeface="Aptos"/>
              </a:rPr>
              <a:t>Personel + şifre girişi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B85B4-FB64-4384-9CEF-AEBA443C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23F07-0C6B-4C6C-8EBD-A16FD55F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6635"/>
            <a:ext cx="20955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56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681FC-157B-4E79-B8BD-5F17FDFE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956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EFF6"/>
                </a:solidFill>
                <a:latin typeface="Aptos"/>
                <a:ea typeface="Aptos"/>
                <a:cs typeface="Aptos"/>
              </a:rPr>
              <a:t>Değiştirilebilir API/IP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2281D-1887-4E66-ACF1-392AF065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2B229-5A74-41D6-B274-F87D6C7E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6210"/>
            <a:ext cx="20955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56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3AC2F-C61B-499D-8B50-F91C4C3D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EFF6"/>
                </a:solidFill>
                <a:latin typeface="Aptos"/>
                <a:ea typeface="Aptos"/>
                <a:cs typeface="Aptos"/>
              </a:rPr>
              <a:t>Klavye güvenli ekran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9E127-F3C9-403A-8136-4CF2FF8A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FC977-22FF-41E3-AEC1-158B6884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5785"/>
            <a:ext cx="20955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56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1B360-3564-4C04-9FF3-B3A4FE03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14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EFF6"/>
                </a:solidFill>
                <a:latin typeface="Aptos"/>
                <a:ea typeface="Aptos"/>
                <a:cs typeface="Aptos"/>
              </a:rPr>
              <a:t>Otomatik taslak kurtarma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6702F-74A9-4439-8EEA-377BFE29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F34B2-160C-4BE5-A63F-45D4ACFF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5360"/>
            <a:ext cx="20955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56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F4349-1265-4BDA-95AD-87DD9881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EFF6"/>
                </a:solidFill>
                <a:latin typeface="Aptos"/>
                <a:ea typeface="Aptos"/>
                <a:cs typeface="Aptos"/>
              </a:rPr>
              <a:t>Offline kuyruk / senkron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7670E-505A-4A9A-8DAB-E84A28E3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53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BBFF95-0B67-4032-99CB-629ACDBD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4935"/>
            <a:ext cx="20955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56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68300-6E83-4DBC-9541-0A1D320B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339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EFF6"/>
                </a:solidFill>
                <a:latin typeface="Aptos"/>
                <a:ea typeface="Aptos"/>
                <a:cs typeface="Aptos"/>
              </a:rPr>
              <a:t>ERP-PC yazdırma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F3C609-B650-46AA-A2EE-89A80267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09750"/>
            <a:ext cx="3105150" cy="40957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95CBA-2EDA-47F4-A52A-85807320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33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WINDOWS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AA030D-6FFF-4756-93CA-44A0EC97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52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08B8B"/>
                </a:solidFill>
                <a:latin typeface="Aptos"/>
                <a:ea typeface="Aptos"/>
                <a:cs typeface="Aptos"/>
              </a:rPr>
              <a:t>Electron masaüstü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5058C1-8910-4425-A21E-D8B71EC6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236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Installer / EXE</a:t>
            </a:r>
          </a:p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Değiştirilebilir sunucu IP</a:t>
            </a:r>
          </a:p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DB ve sırlar pakete gömülmez</a:t>
            </a:r>
          </a:p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Logo, ikon ve splash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90DA25-2399-4BA4-86DD-6053A34B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00400" cy="4095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7E181-0D46-4B25-B16A-4FEE293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33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SUNUCU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C8AFF8-FE3A-41A6-AA81-F896663C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08B8B"/>
                </a:solidFill>
                <a:latin typeface="Aptos"/>
                <a:ea typeface="Aptos"/>
                <a:cs typeface="Aptos"/>
              </a:rPr>
              <a:t>Yerel supervisor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69F9F2-123C-4901-8CB6-84F51E88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Gizli Windows başlangıcı</a:t>
            </a:r>
          </a:p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Periyodik sağlık kontrolü</a:t>
            </a:r>
          </a:p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LocalAppData logları</a:t>
            </a:r>
          </a:p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API ve yardımcı servis izlemi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5FFA6F-36F4-448B-A3F2-045D70A1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10150"/>
            <a:ext cx="6781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0A4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95CF81-6F11-42B6-89CC-13011717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19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Saha hazır olmak için geçerli oturum + gerçek cihaz smoke zorunlu.</a:t>
            </a:r>
          </a:p>
        </p:txBody>
      </p:sp>
    </p:spTree>
    <p:extLst>
      <p:ext uri="{BB962C8B-B14F-4D97-AF65-F5344CB8AC3E}">
        <p14:creationId xmlns:p14="http://schemas.microsoft.com/office/powerpoint/2010/main" val="979168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B2E811-3B5D-4F5B-82BD-D215A8DB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B2C62-102E-4B8C-9791-A70DEC72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WhatsApp konuşmasını satış sürecine çevir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ED08D-6EB8-4874-B4C7-C1AF7B6C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75D9E-670B-4596-A0BF-DB050320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4763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C66EF-A677-4734-8017-C00C5A5E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88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Mesaj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1BB1B-4669-4D1A-BA5B-D43CDAFE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FABEC-0138-462A-9B99-847E7800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14763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2518E-7FD4-4E19-ACC6-231284DD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288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Ülke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B20DE-1ED6-4FE7-B291-578E7F20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228FC-0054-4040-8B1E-ED87BB40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14763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D4B31-07C3-4858-92E4-37CF2A33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288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B1528-1FDB-4DBE-9C33-F7B5138A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E8529-7208-41F8-BE58-806722B0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14763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16433-6EBA-494A-A714-6B086B41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288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Katalog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0FF92-45A2-42C8-A991-98803A79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09756-5881-4AE0-9403-6BF40A78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4763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53691-3941-4063-88C3-70A8D189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288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Teklif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86D4F-567F-4418-A7EB-D86FA916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C66B7-112B-4BB2-995F-F5E12B5B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09750"/>
            <a:ext cx="14763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BB06B-848F-4678-AC3D-E38134E1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288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Sipariş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A3D39E-1081-4C37-B63D-3B0E1DBB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E36320-7B9D-4B54-B012-071EE62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E8"/>
          </a:solidFill>
          <a:ln xmlns:a="http://schemas.openxmlformats.org/drawingml/2006/main" w="0">
            <a:solidFill>
              <a:srgbClr val="3D6F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331DE0-6896-483A-8BCA-7D9928B8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SAĞLAYICI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1A199-ED79-4E47-AA4A-3483D4D4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Evolution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1BF09-B8A4-4B07-B87A-8768E68C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Canlı bağlantı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73E3E-360E-4688-9906-EAB5930C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990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919067-9A16-41F1-82CB-CB3D39F8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990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72209A-01D4-4414-9346-45AE44C5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004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GELEN KUTUSU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0F9F5A-6C73-4E88-BF7B-9972F3F3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7662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Chatwoot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8486B4-A7DB-440D-97D9-3B229AA9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76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Özel CRM görünümü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AD60F9-C09F-461B-8647-61B526C5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0990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3DA3CE-72F2-4744-A69F-87F5E31E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0990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0">
            <a:solidFill>
              <a:srgbClr val="F0A4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455B13-0872-4B4C-AB1D-84CEB75F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PERSONEL EŞLEME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53A356-5808-49C2-ABCC-92850109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E6C149-E6E8-4430-93F1-A8F4AD37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Atama ve görev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0F8A3A-DE40-4BCB-87FE-59FE6272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9792DF-B62E-48B2-B2D7-33AA66F9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0">
            <a:solidFill>
              <a:srgbClr val="19875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342ABC-C4F8-4BF3-A932-069A3369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004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GÖNDERIM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3068FF-1F31-41D7-BFAB-861FA002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7662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Açık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F98BC2-F9F7-4EEC-91C7-1CCCBA91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76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Canlı onaylı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419FAF-2B2D-4258-83E2-A3FE3D43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687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0">
            <a:solidFill>
              <a:srgbClr val="E8EFF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1FD411-1803-4BF4-8197-29FDE1C0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Güvenlik sınırı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EEBAE9-AB49-4A86-A3E5-435FD5CA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292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Doğrulanmamış LID/grup numarasını uydurma • CRM lead’i hemen muhasebe carisine çevirme • kişisel ve şirket hattını karıştırma</a:t>
            </a:r>
          </a:p>
        </p:txBody>
      </p:sp>
    </p:spTree>
    <p:extLst>
      <p:ext uri="{BB962C8B-B14F-4D97-AF65-F5344CB8AC3E}">
        <p14:creationId xmlns:p14="http://schemas.microsoft.com/office/powerpoint/2010/main" val="96863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72EC34-E4EA-4038-8A59-665DC9D3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KALITE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61A49-CBD0-4A74-B4BA-41DCF508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Test kapsamı güçlü; üretim kanıtı ayrı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4787E-56F2-4F4E-BC32-0A4F618B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CDB0C-E972-488C-A9F6-5811376D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F6017-A7D5-4A94-9E5F-2AF8CA36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E8"/>
          </a:solidFill>
          <a:ln xmlns:a="http://schemas.openxmlformats.org/drawingml/2006/main" w="0">
            <a:solidFill>
              <a:srgbClr val="3D6F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20DA9-0E14-42E3-B5A9-46E5546A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ERP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5028A-E19F-4841-BDA7-4B7A40AB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43 sprint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CD051-B13B-4879-9C1B-B52C14A8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Stabilizasyon zinciri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ACC35-36FA-4918-B06F-DFE121EF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097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F7D91-0565-484A-99A0-193A3364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097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6D928-A5FA-4231-86C2-394797BC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02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UX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C691F-21FA-4890-8418-304D4F6E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76475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105 / 105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E5C02-55D6-464A-8F7D-C9876DF2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765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7/7 paket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B80ED-F45F-472E-B5A3-345E3575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4ED5A-6562-4AE6-BBFD-095E8D80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0">
            <a:solidFill>
              <a:srgbClr val="1987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65061-822F-4DCC-8FA2-92B17517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002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FINAL SMOKE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1FEF6-545E-4894-A7AA-D634EEB9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76475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32 /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3C288-20B4-42A2-B38B-01BCEC20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765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başarılı / hatalı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A40433-4EC8-48C8-A9CA-613D8096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028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F35723-7D0B-4EE7-9F23-282D16DC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0">
            <a:solidFill>
              <a:srgbClr val="F0A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F2BA0-E00A-4323-AE20-9C5A13DA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RESPONSIVE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A2771-D0B9-4D72-B487-2562B66C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76475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16 görünüm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440A64-BC31-4287-8065-D3CA41B6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4 ana çözünürlük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5C3B1F-551C-4F6D-8010-A0E9C8BA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5238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A82AE-C739-4473-989D-B6C8E754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87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754"/>
                </a:solidFill>
                <a:latin typeface="Aptos"/>
                <a:ea typeface="Aptos"/>
                <a:cs typeface="Aptos"/>
              </a:rPr>
              <a:t>KANITLANAN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107844-1C2B-4EF9-A768-0FF32E49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Rota ve ekran kapsamı</a:t>
            </a:r>
          </a:p>
          <a:p xmlns:a="http://schemas.openxmlformats.org/drawingml/2006/main">
            <a:pPr algn="l">
              <a:defRPr sz="150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Kontrollü QA yazma akışı</a:t>
            </a:r>
          </a:p>
          <a:p xmlns:a="http://schemas.openxmlformats.org/drawingml/2006/main">
            <a:pPr algn="l">
              <a:defRPr sz="150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Taşma ve responsive regresyon</a:t>
            </a:r>
          </a:p>
          <a:p xmlns:a="http://schemas.openxmlformats.org/drawingml/2006/main">
            <a:pPr algn="l">
              <a:defRPr sz="150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CRM/ayar sınırları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18C4A6-16F8-48A7-B815-8B78E17D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76650"/>
            <a:ext cx="5238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0A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61832F-6080-4771-8821-362E0126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KANITLANMAYAN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AD3DDA-566E-4EDD-9A30-E8C9ED0E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2435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Gerçek üretim yedek dönüşü</a:t>
            </a:r>
          </a:p>
          <a:p xmlns:a="http://schemas.openxmlformats.org/drawingml/2006/main">
            <a:pPr algn="l">
              <a:defRPr sz="150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Tam saha personel kabulü</a:t>
            </a:r>
          </a:p>
          <a:p xmlns:a="http://schemas.openxmlformats.org/drawingml/2006/main">
            <a:pPr algn="l">
              <a:defRPr sz="150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Host / HTTPS / env kapanışı</a:t>
            </a:r>
          </a:p>
          <a:p xmlns:a="http://schemas.openxmlformats.org/drawingml/2006/main">
            <a:pPr algn="l">
              <a:defRPr sz="150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• Temiz release etiketi</a:t>
            </a:r>
          </a:p>
        </p:txBody>
      </p:sp>
    </p:spTree>
    <p:extLst>
      <p:ext uri="{BB962C8B-B14F-4D97-AF65-F5344CB8AC3E}">
        <p14:creationId xmlns:p14="http://schemas.microsoft.com/office/powerpoint/2010/main" val="9154649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60A8A4-F575-47C1-BDD2-5B09D1AD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ŞIRKET VERISI • 18 AĞUSTOS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F1722-2D34-46E1-B108-A6EF3DF9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2026: Euro büyüyor, USD ve TRY geriliyor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0D43E-D46B-4D18-B145-E442654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E53C7-FA2F-4828-87D0-46329310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3200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8AB2A-4DB8-45B4-A438-BE8CBE3C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E8"/>
          </a:solidFill>
          <a:ln xmlns:a="http://schemas.openxmlformats.org/drawingml/2006/main" w="0">
            <a:solidFill>
              <a:srgbClr val="3D6F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982B2-02BB-4FD8-B366-F914CB6D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USD YTD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5BDAC-0520-49BB-92C3-5372D269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$1,766m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BDF54-35E5-45D0-9ECC-A729C54D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881 belge • 58 müşteri • -%5,6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61267-0E70-48CC-93CB-0937A98A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95450"/>
            <a:ext cx="3200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87A6B-E3FC-47DB-A6AB-96A5F2D6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954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8A4D6-8390-4277-84EA-65B8FF4B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8595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EUR YTD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3D8B8-12B2-4D2C-B729-DCB0A7EF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62175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€461k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0C7F4-1806-4237-ACAC-15F46B87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622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412 belge • 16 müşteri • +%14,5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3F163-4E41-4BDA-B33B-1D743802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3200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8F0AA-E59D-4AA2-8C2F-7E9910E2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0">
            <a:solidFill>
              <a:srgbClr val="F0A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D4572-BAB1-4123-A029-14E2DAB7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8595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TRY YTD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A9CBA-AD20-419A-9652-BFF63CB0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62175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₺2,600m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CF790-9CA6-4147-8044-7CFD5B38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622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138 belge • 8 müşteri • -%20,6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14350" y="3562350"/>
          <a:ext xmlns:a="http://schemas.openxmlformats.org/drawingml/2006/main" cx="6667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fee2a041354328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B4B5A-7599-4D0C-B5D8-142B1BCC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36766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5ED1C9-7419-4E5C-928B-8ECEA95E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00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EFF6"/>
                </a:solidFill>
                <a:latin typeface="Aptos"/>
                <a:ea typeface="Aptos"/>
                <a:cs typeface="Aptos"/>
              </a:rPr>
              <a:t>2026 BAZ</a:t>
            </a:r>
          </a:p>
          <a:p xmlns:a="http://schemas.openxmlformats.org/drawingml/2006/main">
            <a:pPr algn="l">
              <a:defRPr sz="1650" b="1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EFF6"/>
                </a:solidFill>
                <a:latin typeface="Aptos"/>
                <a:ea typeface="Aptos"/>
                <a:cs typeface="Aptos"/>
              </a:rPr>
              <a:t>PROJEKSİYONU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C4ABC-AE31-4924-BB80-DDEF1A17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39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0A43A"/>
                </a:solidFill>
                <a:latin typeface="Aptos"/>
                <a:ea typeface="Aptos"/>
                <a:cs typeface="Aptos"/>
              </a:rPr>
              <a:t>$3,856m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958EC-AA8D-4DB7-81DF-94D93A98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816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USD eşdeğeri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2025 mevsimselliği</a:t>
            </a:r>
          </a:p>
        </p:txBody>
      </p:sp>
    </p:spTree>
    <p:extLst>
      <p:ext uri="{BB962C8B-B14F-4D97-AF65-F5344CB8AC3E}">
        <p14:creationId xmlns:p14="http://schemas.microsoft.com/office/powerpoint/2010/main" val="14756896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43F751-6093-46EB-BAEA-E27AF944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STOK SAĞLIĞI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F8F79-3A71-4684-B70B-FE26AE28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Stok büyümenin önündeki ilk operasyon kapısı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D3817-21B2-4254-A634-8B0CB6C2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C3715-AD69-4E0C-9C05-A844DD85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770448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0">
            <a:solidFill>
              <a:srgbClr val="1987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6A520-E222-4DE7-938C-EB6244A4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77044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16.6%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33941-DEB5-46BC-9391-93CD9EE5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98" y="1962150"/>
            <a:ext cx="8578459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CDFCB-ABCC-4752-9B69-25A81EF5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98" y="2190750"/>
            <a:ext cx="85784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80.3%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2B326-3A19-43B8-8F08-1623B686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257" y="1962150"/>
            <a:ext cx="33814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3C39B-7DF2-45F4-8054-B32B06D1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FE195-1FBE-46D6-B039-218E30E1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0">
            <a:solidFill>
              <a:srgbClr val="1987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EAEEB-A3D1-4B5D-95DD-BB22BB89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POZITIF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FAF19-3300-4FF0-8541-6D73016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1.843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35E20-F3AA-4437-9C10-7038DCE3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yaklaşık $811k maliyet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F1064-E57C-454E-B8B8-AE41CBAE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432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39813-8CA2-4A8A-9744-CD716845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432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B7A"/>
          </a:solidFill>
          <a:ln xmlns:a="http://schemas.openxmlformats.org/drawingml/2006/main" w="0">
            <a:solidFill>
              <a:srgbClr val="5C6B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CC4DE-4226-4B27-97EC-36960CF1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33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SIFIR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838B2-FF9A-4A0D-B27B-01F53855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0997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8.930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6FD56-0E4F-4972-B3E7-038EC2B4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100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aktif kartların %80,3'ü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ADB7C-7D30-4543-BCB5-17D26D5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250A4-55CA-48A9-A610-351B6930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5A39D9-4C76-4238-8AC6-B288CA03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NEGATIF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4C7496-BC40-4E99-9D83-6A423551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997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352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02547B-CDD2-4E02-938A-0E0926DA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işlem kök nedeni gerekli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C41EC8-79E4-450C-B456-70F66430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432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54165-6FCE-4089-B8C8-CD1257C7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432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0">
            <a:solidFill>
              <a:srgbClr val="F0A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5731E-48BD-43FA-89A8-FC7872B5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33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HAREKETSIZ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15D0FB-B195-4DE4-9782-8B0002FB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997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$165k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16556-F1B9-405A-A043-6AE042C7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00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pozitif değerin %20,3'ü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E74AC5-0256-46B1-87E5-C5C223BB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106870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0A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591280-3E80-4BF5-B136-98C05054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Öncelik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420611-03AD-4B01-8111-B57BB670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006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Negatifi sıfırla → sıfır kartı arşivle → hareketsizi nakde çevir → 3.000+ güçlü pozitif ürün.</a:t>
            </a:r>
          </a:p>
        </p:txBody>
      </p:sp>
    </p:spTree>
    <p:extLst>
      <p:ext uri="{BB962C8B-B14F-4D97-AF65-F5344CB8AC3E}">
        <p14:creationId xmlns:p14="http://schemas.microsoft.com/office/powerpoint/2010/main" val="1664329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92933-A010-401F-8A6C-ADB0FABE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MÜŞTERI RISKI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2EF72-B718-45D6-8993-11348DEE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Ciro kadar tahsilat kalitesi de büyütür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0370E-4C77-454A-9CF3-1758C310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DBAFB-DA51-437F-9912-8BF3B0D8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1054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45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FB1D3-71C9-4EEC-9647-A91FD7E4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NUTSİ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9B4DC-8D5D-46D2-96E9-FC95DFD8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$141.674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3C70C-9654-4AD6-89DA-811A9B62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574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yaklaşık 146 gün DSO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973B9-C342-491E-ACC0-19E40782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09750"/>
            <a:ext cx="51054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A4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8D8C1-B531-45E1-8E04-E682B526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YASMİN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525DA-5A95-478B-A5F9-27AD7CF2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₺217.490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92F24-5BD7-4547-8B55-E2AE9641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574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yaklaşık 100 gün DSO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DEAFC-1591-40EB-8FBB-4655B532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0477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0">
            <a:solidFill>
              <a:srgbClr val="E8EF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FB959-AFA0-47D7-A96B-BF049BC1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Müşteri skoru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2BC78-4CE9-41BE-AAF5-5B3AFD51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Ciro + katkı marjı + açık bakiye + DSO + iade/iskonto + personel emeği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9C78B-1903-4561-AB5A-2646A61F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B7A"/>
                </a:solidFill>
                <a:latin typeface="Aptos"/>
                <a:ea typeface="Aptos"/>
                <a:cs typeface="Aptos"/>
              </a:rPr>
              <a:t>Yaklaşık 82 aktif müşteri • ortalama ≈ $47k eşdeğer hacim</a:t>
            </a:r>
          </a:p>
        </p:txBody>
      </p:sp>
    </p:spTree>
    <p:extLst>
      <p:ext uri="{BB962C8B-B14F-4D97-AF65-F5344CB8AC3E}">
        <p14:creationId xmlns:p14="http://schemas.microsoft.com/office/powerpoint/2010/main" val="4759028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B7637-2D9B-4124-BA12-AA2C9E7F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BÜYÜME SENARYOLARI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8BC7A-FBEA-466A-87F6-BA9D0DEF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Talep yaratmak yetmez; kapasite birlikte büyümeli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6705E-FA59-40F8-8ADF-5907E68A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72390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7803597e3f461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55F99-CCC6-4A54-8E39-3912D92E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3086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05F31-A9F1-4D89-B74E-AE947DF3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Temkinli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D8E38-4816-4091-8B1E-B8C8951C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+%20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B4976-EA30-4648-9D52-1898B40A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3086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B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716FF-20D7-4E82-91FB-65984CFB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Merkezi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715F2-C8F3-44AA-AB49-E3646E04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+%42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281B6-042D-41F9-84E5-92CC9505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086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A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D982A-F3DF-4338-81E4-0C970FD1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67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A43A"/>
                </a:solidFill>
                <a:latin typeface="Aptos"/>
                <a:ea typeface="Aptos"/>
                <a:cs typeface="Aptos"/>
              </a:rPr>
              <a:t>Güçlü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F90E0-B82C-4E50-B07D-E20B637F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91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+%70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D31D6-A7EC-4BE6-AB6A-1E23A842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Garanti değil: stok, satış kadrosu, lojistik ve çalışma sermayesine bağlıdır.</a:t>
            </a:r>
          </a:p>
        </p:txBody>
      </p:sp>
    </p:spTree>
    <p:extLst>
      <p:ext uri="{BB962C8B-B14F-4D97-AF65-F5344CB8AC3E}">
        <p14:creationId xmlns:p14="http://schemas.microsoft.com/office/powerpoint/2010/main" val="11491326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62478-5129-43F6-A05E-D0A05D06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BÜYÜME ROTASI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E26CA-9FE9-434A-903C-FCEC2818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10 milyon USD mümkün; 4 yıllık disiplin ister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3FD18-4524-4A0A-B312-E7ECF3A1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14350" y="173355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a03ccff6f1400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A59EB-1AF7-43B6-BD51-4949B130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33550"/>
            <a:ext cx="3676650" cy="37147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AE713-0103-49DC-867E-1BAD875C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81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EF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EFF6"/>
                </a:solidFill>
                <a:latin typeface="Aptos"/>
                <a:ea typeface="Aptos"/>
                <a:cs typeface="Aptos"/>
              </a:rPr>
              <a:t>GELİR KÖPRÜSÜ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5176A-EA3A-4AEE-9F52-3401549B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146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Mevcut müşteri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F0A80-87EE-4E94-86ED-45FD4F59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146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$4,60m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7810500" y="2838450"/>
            <a:ext cx="3048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77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201E0-C84D-46B6-9873-D72A3E28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70 yeni perakendeci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22CE4-A16E-45D4-927C-6CB37C68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242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$2,45m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7810500" y="3448050"/>
            <a:ext cx="3048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77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CF9A4-C4C2-4EE0-BDDB-E9396766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8 distribütör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DD995-EC77-48D1-AA64-8A79466B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338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$2,00m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7810500" y="4057650"/>
            <a:ext cx="3048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77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6F34C-C1A5-4B4D-8EFC-733DBF7F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Private label / geri kazanım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1F360-CDCF-4AB3-ACBE-474E83A3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43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A43A"/>
                </a:solidFill>
                <a:latin typeface="Aptos"/>
                <a:ea typeface="Aptos"/>
                <a:cs typeface="Aptos"/>
              </a:rPr>
              <a:t>$0,95m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7810500" y="4667250"/>
            <a:ext cx="3048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77F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8BC6B-79A6-4CE0-A182-90542725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4 yılda gerekli CAGR  •  %26,9</a:t>
            </a:r>
          </a:p>
        </p:txBody>
      </p:sp>
    </p:spTree>
    <p:extLst>
      <p:ext uri="{BB962C8B-B14F-4D97-AF65-F5344CB8AC3E}">
        <p14:creationId xmlns:p14="http://schemas.microsoft.com/office/powerpoint/2010/main" val="2078319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33396E-07F0-489D-B81D-93E2553F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KRITIK AÇIKLAR VE 30 GÜN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DE7E1-7D53-48ED-B351-C0785444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Önce güvence, sonra ölçek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514350" y="1466850"/>
            <a:ext cx="11163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A9DF9-4B3D-45C1-BF5E-33564AAA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B7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81912-EF0E-4F9C-9094-6E4E8344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50863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0A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A80C7-EF02-4D93-9A58-B2E500A6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ÜRETİM KAPILARI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7CD2F-E1C7-4C81-84AC-066C26C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8AAFC-B352-450F-AEF8-9FF4BF94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60320"/>
            <a:ext cx="2286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61403-AC3F-467B-9813-9F1F12AF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Yedek + ayrı DB geri dönüş kanıtı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87826-19E7-42E6-B4EC-8ED9AFCE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97A31-64A3-4C54-B4A4-A6EEF726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6570"/>
            <a:ext cx="2286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F498C-1399-4D42-8D51-C60C405F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Migration rehearsal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48ED1-F297-41BF-985C-22A00F13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43F91-AC4F-4C4D-9BB9-B17FA350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2820"/>
            <a:ext cx="2286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7E2F7-3381-48BD-B5C7-85BD7DC1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SQL least-privilege / sertifika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851B9-30F5-4E6F-8C63-23C787A7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879AF-468F-453A-B3F1-B1C4CEAE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9070"/>
            <a:ext cx="2286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564B5-AADA-4821-A92D-638DA5D4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24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Kullanıcı-rol-env sahipliği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72B3F-34AA-4F48-92E7-AA3C523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EB65C-8F46-474B-98C1-03712722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5320"/>
            <a:ext cx="2286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D78A4-2EEF-4F4B-BCED-AFFFF5AD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Host • HTTPS • firewall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66C3E-D34D-4663-A9F9-7A61AB18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4610BF-CD66-4A8A-BEEA-202E5450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41570"/>
            <a:ext cx="2286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7B132-CF21-46F3-A0AC-5CB3A78B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Temiz release branch/tag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04D9C8-3646-4CA7-AC3E-1A186EEF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52600"/>
            <a:ext cx="5334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B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1B1FE8-4851-4DE3-9257-07135917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B8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8B8B"/>
                </a:solidFill>
                <a:latin typeface="Aptos"/>
                <a:ea typeface="Aptos"/>
                <a:cs typeface="Aptos"/>
              </a:rPr>
              <a:t>İLK 30 GÜN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5B24B0-8BF1-4364-BA57-72E03C5F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7E9C3B-FC8B-4F67-9896-330C898A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22220"/>
            <a:ext cx="2286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7F1033-F324-42D3-9F08-29E19218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574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Dirty tree değişiklik envanteri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C00DE0-EAC0-43F4-8F9A-64F10D6A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063C01-8A2B-45A4-A8CF-A402B358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41320"/>
            <a:ext cx="2286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1424F5-DE9C-4801-B9E5-FA009795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Gerçek backup/restore provası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97FA91-3F3D-4AFE-A1D2-D664401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A1C9F2-C795-4035-AD32-A7C2D831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60420"/>
            <a:ext cx="2286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5017AE-4F74-410F-86A2-E6F13043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Stok-cari-belge mutabakatı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6EF9C3-96D0-41D3-A301-F8FBC19B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ABFFC3-513D-4E08-9DDD-F40468DE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9520"/>
            <a:ext cx="2286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3F4DFF-050B-4E2A-9859-E959C7D5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Negatif stok kök nedenleri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29E1B5-036E-4C0E-95CD-AB768A16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52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1C9938-2E3A-4552-BFD9-31CC7FE9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8620"/>
            <a:ext cx="2286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025590-C9B7-4272-A549-C7914661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CRM durable idempotency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3ADB94-ACB8-4400-BEE3-CA3B13E7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9F89C9-ED55-495B-9497-4B14AAF8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17720"/>
            <a:ext cx="2286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680BD1-2B4F-42ED-84FA-CDFAB95D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529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Şirket hattı/personel smoke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6D6117-95D2-44FB-88B3-4197505D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91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065B54-22EF-450B-BD0C-7D15AB72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36820"/>
            <a:ext cx="2286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A35685-DE4A-4C9B-A735-A7B8C28F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720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6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7364A"/>
                </a:solidFill>
                <a:latin typeface="Aptos"/>
                <a:ea typeface="Aptos"/>
                <a:cs typeface="Aptos"/>
              </a:rPr>
              <a:t>Muhasebe ve operasyon sağlığını ayır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539FD3-7102-4C3E-9A09-0521CC05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Bu kapılar kapanmadan yeni özellik sayısı başarı ölçüsü değildir.</a:t>
            </a:r>
          </a:p>
        </p:txBody>
      </p:sp>
    </p:spTree>
    <p:extLst>
      <p:ext uri="{BB962C8B-B14F-4D97-AF65-F5344CB8AC3E}">
        <p14:creationId xmlns:p14="http://schemas.microsoft.com/office/powerpoint/2010/main" val="20061945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E87B4-5021-49C6-BA3D-69D5ECD0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A43A"/>
                </a:solidFill>
                <a:latin typeface="Aptos"/>
                <a:ea typeface="Aptos"/>
                <a:cs typeface="Aptos"/>
              </a:rPr>
              <a:t>SONRAKİ YAPAY ZEKÂYA 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F2415-7AA0-43D8-882A-E843F449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5238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 sistemi nasıl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daha güvenilir ve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kârlı ölçekleriz?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FD451-F560-4B3F-B0EC-8A65B95F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952500"/>
            <a:ext cx="2190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375F"/>
          </a:solidFill>
          <a:ln xmlns:a="http://schemas.openxmlformats.org/drawingml/2006/main" w="9525">
            <a:solidFill>
              <a:srgbClr val="3157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FFB8D-29BE-4A20-85B7-9AC446F2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104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A43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949BC-470A-4B3A-B49F-A4FD91A2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4097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 güçlü 10 kazanım?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846C2-4804-44E8-A81D-0F6D1A80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952500"/>
            <a:ext cx="2190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375F"/>
          </a:solidFill>
          <a:ln xmlns:a="http://schemas.openxmlformats.org/drawingml/2006/main" w="9525">
            <a:solidFill>
              <a:srgbClr val="31577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EBC40-F090-47C1-B601-99C0278C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104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A43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7F7C9-0CC9-4FDD-9C76-E4E26CA6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4097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Üretimi engelleyen 10 risk?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83B04-007B-4C85-ABB7-10964E16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62200"/>
            <a:ext cx="2190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375F"/>
          </a:solidFill>
          <a:ln xmlns:a="http://schemas.openxmlformats.org/drawingml/2006/main" w="9525">
            <a:solidFill>
              <a:srgbClr val="3157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81E5C-C3D1-4EC3-93EC-08EA9C72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14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A43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CA991-91BE-4ADB-A229-1C24F595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819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Neyi sadeleştirelim?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C4ED5-ACE5-4326-847D-A35AEB83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62200"/>
            <a:ext cx="2190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375F"/>
          </a:solidFill>
          <a:ln xmlns:a="http://schemas.openxmlformats.org/drawingml/2006/main" w="9525">
            <a:solidFill>
              <a:srgbClr val="3157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6923E-C984-45D7-8E10-D0A60827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14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A43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5128D-AB9E-4827-A5BE-A1B63EFC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19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 / 90 / 365 gün planı?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8F820-C209-4DEE-8811-38BCA767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900"/>
            <a:ext cx="2190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375F"/>
          </a:solidFill>
          <a:ln xmlns:a="http://schemas.openxmlformats.org/drawingml/2006/main" w="9525">
            <a:solidFill>
              <a:srgbClr val="3157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98DBC-E64D-4907-AD99-F30C4F07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24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A43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67850-D292-4759-95F3-E300D3E1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2291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10m hedefinin zayıf varsayımları?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73DA4-15DB-459B-8F53-52829100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71900"/>
            <a:ext cx="2190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375F"/>
          </a:solidFill>
          <a:ln xmlns:a="http://schemas.openxmlformats.org/drawingml/2006/main" w="9525">
            <a:solidFill>
              <a:srgbClr val="31577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6E6D2-5EFD-4F4F-8684-91C8E9DE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924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A4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A43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6DF71-E598-4123-81DD-DA8E988F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291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Her önerinin KPI / etki / eforu?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63EDB-C804-4639-B723-C3CDE458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0668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 w="0">
            <a:solidFill>
              <a:srgbClr val="008B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6840F-E4AE-4C1C-B86E-758A5B87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Kural: Canlı doğrulandı • Kodda var • Tarihli veri • Plan/hedef ayrımını bozma.</a:t>
            </a:r>
          </a:p>
        </p:txBody>
      </p:sp>
    </p:spTree>
    <p:extLst>
      <p:ext uri="{BB962C8B-B14F-4D97-AF65-F5344CB8AC3E}">
        <p14:creationId xmlns:p14="http://schemas.microsoft.com/office/powerpoint/2010/main" val="1380357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2026-08-19T01:04:21.5580000Z</dcterms:created>
  <dcterms:modified xsi:type="dcterms:W3CDTF">2026-08-19T01:04:21.5580000Z</dcterms:modified>
</coreProperties>
</file>